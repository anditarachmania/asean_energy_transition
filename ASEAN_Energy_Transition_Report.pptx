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Renewable Share 2022 (%)</c:v>
                </c:pt>
              </c:strCache>
            </c:strRef>
          </c:tx>
          <c:spPr>
            <a:solidFill>
              <a:srgbClr val="0D7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Lao PDR</c:v>
                </c:pt>
                <c:pt idx="1">
                  <c:v>Myanmar</c:v>
                </c:pt>
                <c:pt idx="2">
                  <c:v>Vietnam</c:v>
                </c:pt>
                <c:pt idx="3">
                  <c:v>Cambodia</c:v>
                </c:pt>
                <c:pt idx="4">
                  <c:v>Philippines</c:v>
                </c:pt>
                <c:pt idx="5">
                  <c:v>Thailand</c:v>
                </c:pt>
                <c:pt idx="6">
                  <c:v>Indonesia</c:v>
                </c:pt>
                <c:pt idx="7">
                  <c:v>Malaysia</c:v>
                </c:pt>
                <c:pt idx="8">
                  <c:v>Singapore</c:v>
                </c:pt>
                <c:pt idx="9">
                  <c:v>Brunei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69</c:v>
                </c:pt>
                <c:pt idx="1">
                  <c:v>55</c:v>
                </c:pt>
                <c:pt idx="2">
                  <c:v>38</c:v>
                </c:pt>
                <c:pt idx="3">
                  <c:v>38</c:v>
                </c:pt>
                <c:pt idx="4">
                  <c:v>29</c:v>
                </c:pt>
                <c:pt idx="5">
                  <c:v>20</c:v>
                </c:pt>
                <c:pt idx="6">
                  <c:v>15</c:v>
                </c:pt>
                <c:pt idx="7">
                  <c:v>10</c:v>
                </c:pt>
                <c:pt idx="8">
                  <c:v>3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D5-45D1-A39F-5DFA583C31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CO₂ per Capita 2022 (t)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Brunei</c:v>
                </c:pt>
                <c:pt idx="1">
                  <c:v>Singapore</c:v>
                </c:pt>
                <c:pt idx="2">
                  <c:v>Malaysia</c:v>
                </c:pt>
                <c:pt idx="3">
                  <c:v>Thailand</c:v>
                </c:pt>
                <c:pt idx="4">
                  <c:v>Vietnam</c:v>
                </c:pt>
                <c:pt idx="5">
                  <c:v>Indonesia</c:v>
                </c:pt>
                <c:pt idx="6">
                  <c:v>Philippines</c:v>
                </c:pt>
                <c:pt idx="7">
                  <c:v>Cambodia</c:v>
                </c:pt>
                <c:pt idx="8">
                  <c:v>Myanmar</c:v>
                </c:pt>
                <c:pt idx="9">
                  <c:v>Lao PDR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</c:v>
                </c:pt>
                <c:pt idx="1">
                  <c:v>9.1999999999999993</c:v>
                </c:pt>
                <c:pt idx="2">
                  <c:v>8</c:v>
                </c:pt>
                <c:pt idx="3">
                  <c:v>3.7</c:v>
                </c:pt>
                <c:pt idx="4">
                  <c:v>3</c:v>
                </c:pt>
                <c:pt idx="5">
                  <c:v>2.1</c:v>
                </c:pt>
                <c:pt idx="6">
                  <c:v>1.1000000000000001</c:v>
                </c:pt>
                <c:pt idx="7">
                  <c:v>0.9</c:v>
                </c:pt>
                <c:pt idx="8">
                  <c:v>0.52</c:v>
                </c:pt>
                <c:pt idx="9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55-48B1-BD34-AC89E8EE72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2000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Myanmar</c:v>
                </c:pt>
                <c:pt idx="1">
                  <c:v>Cambodia</c:v>
                </c:pt>
                <c:pt idx="2">
                  <c:v>Lao PDR</c:v>
                </c:pt>
                <c:pt idx="3">
                  <c:v>Indonesia</c:v>
                </c:pt>
                <c:pt idx="4">
                  <c:v>Vietnam</c:v>
                </c:pt>
                <c:pt idx="5">
                  <c:v>Philippines</c:v>
                </c:pt>
                <c:pt idx="6">
                  <c:v>Thailand</c:v>
                </c:pt>
                <c:pt idx="7">
                  <c:v>Malaysia</c:v>
                </c:pt>
                <c:pt idx="8">
                  <c:v>Singapore</c:v>
                </c:pt>
                <c:pt idx="9">
                  <c:v>Brunei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20</c:v>
                </c:pt>
                <c:pt idx="2">
                  <c:v>35</c:v>
                </c:pt>
                <c:pt idx="3">
                  <c:v>72</c:v>
                </c:pt>
                <c:pt idx="4">
                  <c:v>75</c:v>
                </c:pt>
                <c:pt idx="5">
                  <c:v>80</c:v>
                </c:pt>
                <c:pt idx="6">
                  <c:v>91</c:v>
                </c:pt>
                <c:pt idx="7">
                  <c:v>98</c:v>
                </c:pt>
                <c:pt idx="8">
                  <c:v>100</c:v>
                </c:pt>
                <c:pt idx="9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61-49EB-92BE-10949A4B6A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D7A8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Myanmar</c:v>
                </c:pt>
                <c:pt idx="1">
                  <c:v>Cambodia</c:v>
                </c:pt>
                <c:pt idx="2">
                  <c:v>Lao PDR</c:v>
                </c:pt>
                <c:pt idx="3">
                  <c:v>Indonesia</c:v>
                </c:pt>
                <c:pt idx="4">
                  <c:v>Vietnam</c:v>
                </c:pt>
                <c:pt idx="5">
                  <c:v>Philippines</c:v>
                </c:pt>
                <c:pt idx="6">
                  <c:v>Thailand</c:v>
                </c:pt>
                <c:pt idx="7">
                  <c:v>Malaysia</c:v>
                </c:pt>
                <c:pt idx="8">
                  <c:v>Singapore</c:v>
                </c:pt>
                <c:pt idx="9">
                  <c:v>Brunei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65</c:v>
                </c:pt>
                <c:pt idx="1">
                  <c:v>87</c:v>
                </c:pt>
                <c:pt idx="2">
                  <c:v>92</c:v>
                </c:pt>
                <c:pt idx="3">
                  <c:v>99</c:v>
                </c:pt>
                <c:pt idx="4">
                  <c:v>100</c:v>
                </c:pt>
                <c:pt idx="5">
                  <c:v>96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61-49EB-92BE-10949A4B6A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906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645920"/>
          </a:xfrm>
          <a:prstGeom prst="rect">
            <a:avLst/>
          </a:prstGeom>
          <a:solidFill>
            <a:srgbClr val="0D7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1280160"/>
            <a:ext cx="1371600" cy="640080"/>
          </a:xfrm>
          <a:prstGeom prst="rect">
            <a:avLst/>
          </a:prstGeom>
          <a:solidFill>
            <a:srgbClr val="0ABFBC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Energy Transition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Cross-Country Data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Renewable Energy, CO₂ Emissions &amp; Energy Access · 2000–2022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8412480" cy="0"/>
          </a:xfrm>
          <a:prstGeom prst="line">
            <a:avLst/>
          </a:prstGeom>
          <a:noFill/>
          <a:ln w="12700">
            <a:solidFill>
              <a:srgbClr val="0D7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37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Andita Rachmania  ·  Data &amp; Analytics Analyst  ·  April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World Bank World Development Indicators (WDI)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Research Questions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is one of the world's most economically diverse regions — spanning a 180× income gap between its richest and poorest member states. This analysis applies a structured data framework to examine how all 10 ASEAN nations are progressing on energy transition, using four World Bank indicators across 23 years of annual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73152" cy="1170432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965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Renewable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31343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fossil fuel growth outpacing renewables? Is the headline share misleading?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74520"/>
            <a:ext cx="73152" cy="1170432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965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Carbon Trajectory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31343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CO₂ emissions evolving across the ASEAN income spectrum?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00400"/>
            <a:ext cx="73152" cy="1170432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Energy Access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363931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nations have reached universal electricity access, and who is left behind?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73152" cy="1170432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GDP per Capita vs CO₂ Emissions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63931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higher income mean higher emissions across ASEAN?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World Development Indicators (WDI)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93392" cy="12344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2412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Member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93392" cy="12344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2412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16642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Observations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(2000–2022)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1993392" cy="12344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2412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7720" y="16642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960120"/>
            <a:ext cx="1993392" cy="12344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2412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180×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16642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Range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(GDP/capita)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Used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88920"/>
          <a:ext cx="8412480" cy="2057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EG.FEC.RNEW.ZS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Renewable energy consumption (% of total final energy consumption)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TFEC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EN.ATM.CO2E.PC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emissions per capita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tons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EG.ELC.ACCS.ZS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to electricity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population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NY.GDP.PCAP.CD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per capita (current US$)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databank.worldbank.org/source/world-development-indicators · Retrieved April 2026 · Linear interpolation applied where intermediate annual values were unavailable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2022 · All 10 ASEAN Member States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29968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29968" cy="91440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2412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avg. renewable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share (TFEC)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1755648" cy="0"/>
          </a:xfrm>
          <a:prstGeom prst="line">
            <a:avLst/>
          </a:prstGeom>
          <a:noFill/>
          <a:ln w="12700">
            <a:solidFill>
              <a:srgbClr val="DDEE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39696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0.5% (Brunei) – 69% (Lao PDR)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914400"/>
            <a:ext cx="2029968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914400"/>
            <a:ext cx="2029968" cy="91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02412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50592" y="16276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avg. CO₂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87752" y="2103120"/>
            <a:ext cx="1755648" cy="0"/>
          </a:xfrm>
          <a:prstGeom prst="line">
            <a:avLst/>
          </a:prstGeom>
          <a:noFill/>
          <a:ln w="12700">
            <a:solidFill>
              <a:srgbClr val="DD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2139696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0.5t (Lao PDR/Myanmar) – 20t (Brunei)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914400"/>
            <a:ext cx="2029968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914400"/>
            <a:ext cx="2029968" cy="91440"/>
          </a:xfrm>
          <a:prstGeom prst="rect">
            <a:avLst/>
          </a:prstGeom>
          <a:solidFill>
            <a:srgbClr val="1A9850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102412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26864" y="16276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electricity access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64024" y="2103120"/>
            <a:ext cx="1755648" cy="0"/>
          </a:xfrm>
          <a:prstGeom prst="line">
            <a:avLst/>
          </a:prstGeom>
          <a:noFill/>
          <a:ln w="12700">
            <a:solidFill>
              <a:srgbClr val="DD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2139696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Myanmar lowest at 65%; Cambodia 87%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03136" y="914400"/>
            <a:ext cx="2029968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914400"/>
            <a:ext cx="2029968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803136" y="102412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$82K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803136" y="16276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GDP/cap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$1.1K Myanmar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0296" y="2103120"/>
            <a:ext cx="1755648" cy="0"/>
          </a:xfrm>
          <a:prstGeom prst="line">
            <a:avLst/>
          </a:prstGeom>
          <a:noFill/>
          <a:ln w="12700">
            <a:solidFill>
              <a:srgbClr val="DD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2139696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180× income gap across the bloc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2852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Snapshot — Key Indicators 2022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72968"/>
          <a:ext cx="8412480" cy="19507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Renewable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CO₂/cap (t)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Elec.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GDP/cap (USD)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Malaysia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Lao PDR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Myanmar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RENEWABLE ENERGY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Share (% TFEC) — 2022 Snapshot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14400"/>
            <a:ext cx="31546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914400"/>
            <a:ext cx="73152" cy="1170432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The Falling Floor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33502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Indonesia: 44% → 15% (2000–2022). Coal expansion outpaced renewables in absolute terms.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212848"/>
            <a:ext cx="31546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212848"/>
            <a:ext cx="73152" cy="1170432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Vietnam's Inflection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63347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reversed its decline post-2018 via feed-in tariffs, triggering a solar and wind boom.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511296"/>
            <a:ext cx="31546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3511296"/>
            <a:ext cx="73152" cy="1170432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3602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Biomass Caveat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39319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 PDR, Cambodia &amp; Myanmar's high shares include traditional biomass (wood/charcoal) — not clean energy.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Includes traditional biomass. WDI indicator EG.FEC.RNEW.ZS.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CO₂ EMISSIONS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Capita (metric tons) — 2022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14400"/>
            <a:ext cx="31546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914400"/>
            <a:ext cx="73152" cy="1170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Vietnam: 6× Growth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33502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rose from 0.5t → 3.0t (2000–2022). Manufacturing-led growth driven by coal power.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212848"/>
            <a:ext cx="31546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212848"/>
            <a:ext cx="73152" cy="1170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Flat/Declining CO</a:t>
            </a:r>
            <a:r>
              <a:rPr lang="en-US" sz="1100" b="1" baseline="-25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63347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&amp; Singapore show flat/declining per-capita CO₂ since ~2010, despite continued GDP growth.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511296"/>
            <a:ext cx="31546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3511296"/>
            <a:ext cx="73152" cy="1170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3602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 Brunei's Structural Gap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39319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per-capita emissions (20t) in ASEAN — driven by energy subsidies and fossil-fuel dependence.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ENERGY ACCESS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Access — Progress &amp; Persistent Gaps (2000 → 2022)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14400"/>
            <a:ext cx="31546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914400"/>
            <a:ext cx="73152" cy="1170432"/>
          </a:xfrm>
          <a:prstGeom prst="rect">
            <a:avLst/>
          </a:prstGeom>
          <a:solidFill>
            <a:srgbClr val="1A985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Dramatic Progress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33502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Cambodia: 20%→87%. Lao PDR: 35%→92%. Indonesia: 72%→99%. Among the fastest expansions globally.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212848"/>
            <a:ext cx="31546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212848"/>
            <a:ext cx="73152" cy="1170432"/>
          </a:xfrm>
          <a:prstGeom prst="rect">
            <a:avLst/>
          </a:prstGeom>
          <a:solidFill>
            <a:srgbClr val="1A9850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Myanmar: Critical Gap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63347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in ASEAN at 65%. Political instability since 2021 reversed earlier infrastructure gains.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511296"/>
            <a:ext cx="31546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3511296"/>
            <a:ext cx="73152" cy="1170432"/>
          </a:xfrm>
          <a:prstGeom prst="rect">
            <a:avLst/>
          </a:prstGeom>
          <a:solidFill>
            <a:srgbClr val="1A9850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3602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SDG 7 Convergence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39319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countries at 100% access. Remaining gap concentrated in Myanmar and rural Philippines/Cambodia.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GDP vs CO₂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Kuznets Curve — Does Growth Decouple from Emissions?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Coupled Growth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Vietnam, Indonesia,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Cambodia, Lao PDR, Myanmar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87168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emissions rising together. Early-to-middle development stage. Critical infrastructure decisions ahead.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60120"/>
            <a:ext cx="2697480" cy="91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Early Inflection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572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8288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Thailand, Philippines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395728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487168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growth slowing relative to GDP. 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96012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60120"/>
            <a:ext cx="2697480" cy="91440"/>
          </a:xfrm>
          <a:prstGeom prst="rect">
            <a:avLst/>
          </a:prstGeom>
          <a:solidFill>
            <a:srgbClr val="1A985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Emerging Decoupling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572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8288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Malaysia, Singapore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395728"/>
            <a:ext cx="2423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487168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capita stabilising or declining despite continued GDP growth.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FFF8E6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Window: Vietnam &amp; Indonesia face infrastructure lock-in decisions now. Coal plants built today will emit for 30–40 years — past 2050 climate targets.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SCORECARD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Transition Readiness — ASEAN 2022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0–1 score per indicator · Composite = unweighted average · Green = better performance · Source: author's calculations on WDI data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65760" y="1234440"/>
          <a:ext cx="8412480" cy="38349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Lao PDR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Malaysia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Myanmar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Cambodia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Brunei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Composite score is illustrative. Equal weights across all four indicators. Renewable Growth = 2022 minus 2000 value (pp change), normalised within ASEAN. Traditional biomass in renewable share inflates Lao PDR, Myanmar, Cambodia.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474720"/>
            <a:ext cx="2011680" cy="1668780"/>
          </a:xfrm>
          <a:prstGeom prst="rect">
            <a:avLst/>
          </a:prstGeom>
          <a:solidFill>
            <a:srgbClr val="0D7A82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Structural Themes for the Regional Research Agenda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4160520" cy="1572768"/>
          </a:xfrm>
          <a:prstGeom prst="rect">
            <a:avLst/>
          </a:prstGeom>
          <a:solidFill>
            <a:srgbClr val="152D4A"/>
          </a:solidFill>
          <a:ln w="12700">
            <a:solidFill>
              <a:srgbClr val="0D7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Lock-in is the Central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&amp; Vietnam face pivotal infrastructure decisions. Coal plants built now operate past 2050 — crowding out the transition window.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1353312"/>
            <a:ext cx="4160520" cy="1572768"/>
          </a:xfrm>
          <a:prstGeom prst="rect">
            <a:avLst/>
          </a:prstGeom>
          <a:solidFill>
            <a:srgbClr val="152D4A"/>
          </a:solidFill>
          <a:ln w="12700">
            <a:solidFill>
              <a:srgbClr val="0D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50408" y="1463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Disaggregate Biomass from Modern Renewables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920240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headline renewable shares overstate clean energy progress. Policy analyses must distinguish solar, wind, hydro and geothermal from traditional biomass.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4160520" cy="1572768"/>
          </a:xfrm>
          <a:prstGeom prst="rect">
            <a:avLst/>
          </a:prstGeom>
          <a:solidFill>
            <a:srgbClr val="152D4A"/>
          </a:solidFill>
          <a:ln w="12700">
            <a:solidFill>
              <a:srgbClr val="0D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18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218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Myanmar Requires a Dedicated Policy Lens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675888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access, emissions, and political risk intersect uniquely in Myanmar. Governance and energy policy cannot be treated separately.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7448" y="3108960"/>
            <a:ext cx="4160520" cy="1572768"/>
          </a:xfrm>
          <a:prstGeom prst="rect">
            <a:avLst/>
          </a:prstGeom>
          <a:solidFill>
            <a:srgbClr val="152D4A"/>
          </a:solidFill>
          <a:ln w="12700">
            <a:solidFill>
              <a:srgbClr val="0D7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218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50408" y="3218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is Emerging but Fragile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0328" y="3675888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&amp; Singapore show early CO₂-income decoupling. Identifying transferable lessons for Thailand, Philippines, and Vietnam is urgent.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1134</Words>
  <Application>Microsoft Office PowerPoint</Application>
  <PresentationFormat>On-screen Show (16:9)</PresentationFormat>
  <Paragraphs>252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ASEAN Energy Transition Analysis</dc:title>
  <dc:subject>PptxGenJS Presentation</dc:subject>
  <dc:creator>Andita Rachmania</dc:creator>
  <cp:lastModifiedBy>Andita Rachmania</cp:lastModifiedBy>
  <cp:revision>5</cp:revision>
  <dcterms:created xsi:type="dcterms:W3CDTF">2026-04-19T22:26:24Z</dcterms:created>
  <dcterms:modified xsi:type="dcterms:W3CDTF">2026-04-19T23:14:30Z</dcterms:modified>
</cp:coreProperties>
</file>